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B1E"/>
    <a:srgbClr val="75A763"/>
    <a:srgbClr val="202120"/>
    <a:srgbClr val="E8F1E9"/>
    <a:srgbClr val="FBF4DE"/>
    <a:srgbClr val="13241A"/>
    <a:srgbClr val="3A8322"/>
    <a:srgbClr val="6A796F"/>
    <a:srgbClr val="F4F7F3"/>
    <a:srgbClr val="6298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4596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120640"/>
            <a:ext cx="685800" cy="0"/>
          </a:xfrm>
          <a:prstGeom prst="line">
            <a:avLst/>
          </a:prstGeom>
          <a:noFill/>
          <a:ln w="444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9464040" y="4114800"/>
            <a:ext cx="640080" cy="457200"/>
          </a:xfrm>
          <a:prstGeom prst="line">
            <a:avLst/>
          </a:prstGeom>
          <a:noFill/>
          <a:ln w="444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10104120" y="4572000"/>
            <a:ext cx="731520" cy="0"/>
          </a:xfrm>
          <a:prstGeom prst="line">
            <a:avLst/>
          </a:prstGeom>
          <a:noFill/>
          <a:ln w="444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10835640" y="2926080"/>
            <a:ext cx="640080" cy="0"/>
          </a:xfrm>
          <a:prstGeom prst="line">
            <a:avLst/>
          </a:prstGeom>
          <a:noFill/>
          <a:ln w="444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8723376" y="5065776"/>
            <a:ext cx="109728" cy="109728"/>
          </a:xfrm>
          <a:prstGeom prst="ellipse">
            <a:avLst/>
          </a:prstGeom>
          <a:solidFill>
            <a:srgbClr val="C7A43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9409176" y="4059936"/>
            <a:ext cx="109728" cy="109728"/>
          </a:xfrm>
          <a:prstGeom prst="ellipse">
            <a:avLst/>
          </a:prstGeom>
          <a:solidFill>
            <a:srgbClr val="C7A43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10049256" y="4517136"/>
            <a:ext cx="109728" cy="109728"/>
          </a:xfrm>
          <a:prstGeom prst="ellipse">
            <a:avLst/>
          </a:prstGeom>
          <a:solidFill>
            <a:srgbClr val="C7A43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10780776" y="2871216"/>
            <a:ext cx="109728" cy="109728"/>
          </a:xfrm>
          <a:prstGeom prst="ellipse">
            <a:avLst/>
          </a:prstGeom>
          <a:solidFill>
            <a:srgbClr val="C7A43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11420856" y="1911096"/>
            <a:ext cx="109728" cy="109728"/>
          </a:xfrm>
          <a:prstGeom prst="ellipse">
            <a:avLst/>
          </a:prstGeom>
          <a:solidFill>
            <a:srgbClr val="3A832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 rot="3300000">
            <a:off x="11356848" y="1691640"/>
            <a:ext cx="292608" cy="292608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8229600" y="914400"/>
            <a:ext cx="3429000" cy="5577840"/>
          </a:xfrm>
          <a:prstGeom prst="roundRect">
            <a:avLst>
              <a:gd name="adj" fmla="val 3200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548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C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ANALYSTS 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758952"/>
            <a:ext cx="6547104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</a:rPr>
              <a:t>Beyond the Numbers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566928" y="2946607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2200"/>
              </a:lnSpc>
            </a:pPr>
            <a:r>
              <a:rPr lang="en-PK" sz="2000" dirty="0">
                <a:solidFill>
                  <a:srgbClr val="62983E"/>
                </a:solidFill>
              </a:rPr>
              <a:t>Financial Performance Analysis of Non-Financial Sectors Listed on the Pakistan Stock Exchange (2005–2023)</a:t>
            </a:r>
            <a:endParaRPr lang="en-US" sz="2000" dirty="0">
              <a:solidFill>
                <a:srgbClr val="62983E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6949440" cy="1691640"/>
          </a:xfrm>
          <a:prstGeom prst="roundRect">
            <a:avLst>
              <a:gd name="adj" fmla="val 4865"/>
            </a:avLst>
          </a:prstGeom>
          <a:solidFill>
            <a:srgbClr val="F4F7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914400" y="4754880"/>
            <a:ext cx="6400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C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
</a:t>
            </a:r>
            <a:r>
              <a:rPr lang="en-US" sz="13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Pakistan Stock Exchange holds nineteen years of financial statements for companies across fifteen non-financial sectors. Buried in that volume, real performance trends and the true top performers are invisible to simple observation.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49640" y="1280160"/>
            <a:ext cx="868680" cy="868680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549640" y="12801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555480" y="153619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49640" y="2697480"/>
            <a:ext cx="868680" cy="868680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549640" y="2697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555480" y="29535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SECTORS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549640" y="4114800"/>
            <a:ext cx="868680" cy="868680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8549640" y="41148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555480" y="437083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WORKSHEETS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8C49FF4-F97F-E035-B8DE-DA27722B0B39}"/>
              </a:ext>
            </a:extLst>
          </p:cNvPr>
          <p:cNvCxnSpPr>
            <a:cxnSpLocks/>
          </p:cNvCxnSpPr>
          <p:nvPr/>
        </p:nvCxnSpPr>
        <p:spPr>
          <a:xfrm>
            <a:off x="879130" y="3840479"/>
            <a:ext cx="6471340" cy="0"/>
          </a:xfrm>
          <a:prstGeom prst="line">
            <a:avLst/>
          </a:prstGeom>
          <a:ln w="28575"/>
          <a:effectLst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3611880" cy="5852160"/>
          </a:xfrm>
          <a:prstGeom prst="roundRect">
            <a:avLst>
              <a:gd name="adj" fmla="val 3544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02920" y="502920"/>
            <a:ext cx="3611880" cy="5852160"/>
          </a:xfrm>
          <a:prstGeom prst="roundRect">
            <a:avLst>
              <a:gd name="adj" fmla="val 3544"/>
            </a:avLst>
          </a:prstGeom>
          <a:ln w="190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198" y="1672653"/>
            <a:ext cx="2093323" cy="20933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3" y="4501647"/>
            <a:ext cx="3364992" cy="9573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of PSX Non-Financial Sectors, 2005–2023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0" y="640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0" y="100584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5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Analytics Workflow — From Raw Statements to Clear Insight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4572000" y="22860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scale and inconsistency: nineteen years of PSX financial statements, scattered across formats, cannot reveal a sector or company leader on their own. Our solution turns that raw data into a decision-ready story.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572000" y="3383280"/>
            <a:ext cx="3383280" cy="1261872"/>
          </a:xfrm>
          <a:prstGeom prst="roundRect">
            <a:avLst>
              <a:gd name="adj" fmla="val 6522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9"/>
          <p:cNvSpPr/>
          <p:nvPr/>
        </p:nvSpPr>
        <p:spPr>
          <a:xfrm>
            <a:off x="4754880" y="3566160"/>
            <a:ext cx="384048" cy="384048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475488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A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257800" y="3502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754880" y="39136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Standardize, reshape and merge 19 years of SBP financial statements into one analysis-ready dataset.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973568" y="3867912"/>
            <a:ext cx="182880" cy="274320"/>
          </a:xfrm>
          <a:prstGeom prst="chevron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8183880" y="3383280"/>
            <a:ext cx="3383280" cy="1261872"/>
          </a:xfrm>
          <a:prstGeom prst="roundRect">
            <a:avLst>
              <a:gd name="adj" fmla="val 6522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5"/>
          <p:cNvSpPr/>
          <p:nvPr/>
        </p:nvSpPr>
        <p:spPr>
          <a:xfrm>
            <a:off x="8366760" y="3566160"/>
            <a:ext cx="384048" cy="384048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8366760" y="3566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A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869680" y="350215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366760" y="391363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SQL (BigQuery) to isolate organizations with complete 19-year records for fair comparison.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0" y="4828032"/>
            <a:ext cx="3383280" cy="1261872"/>
          </a:xfrm>
          <a:prstGeom prst="roundRect">
            <a:avLst>
              <a:gd name="adj" fmla="val 6522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0"/>
          <p:cNvSpPr/>
          <p:nvPr/>
        </p:nvSpPr>
        <p:spPr>
          <a:xfrm>
            <a:off x="4754880" y="5010912"/>
            <a:ext cx="384048" cy="384048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4754880" y="5010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A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257800" y="49469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754880" y="535838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correlation analysis in R across 14 financial ratios to surface real relationships.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973568" y="5312664"/>
            <a:ext cx="182880" cy="274320"/>
          </a:xfrm>
          <a:prstGeom prst="chevron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5"/>
          <p:cNvSpPr/>
          <p:nvPr/>
        </p:nvSpPr>
        <p:spPr>
          <a:xfrm>
            <a:off x="8183880" y="4828032"/>
            <a:ext cx="3383280" cy="1261872"/>
          </a:xfrm>
          <a:prstGeom prst="roundRect">
            <a:avLst>
              <a:gd name="adj" fmla="val 6522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Shape 26"/>
          <p:cNvSpPr/>
          <p:nvPr/>
        </p:nvSpPr>
        <p:spPr>
          <a:xfrm>
            <a:off x="8366760" y="5010912"/>
            <a:ext cx="384048" cy="384048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8366760" y="5010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7A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869680" y="494690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8366760" y="535838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Tableau dashboard to reveal sector and company performance at a glance.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transparent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10817352" y="3200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731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Financial Statements, Straight From the Regulator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611880" cy="4754880"/>
          </a:xfrm>
          <a:prstGeom prst="roundRect">
            <a:avLst>
              <a:gd name="adj" fmla="val 2278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417320" y="1856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&amp; NATURE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3108960" cy="2624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Bank of Pakistan
</a:t>
            </a: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"Financial Statements Analysis of All Listed Non-Financial Companies" — official published data.</a:t>
            </a: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data </a:t>
            </a: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SBP from audited annual reports already filed by companies, standardized sector-wise.</a:t>
            </a: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</a:t>
            </a:r>
            <a:r>
              <a:rPr lang="en-US" sz="12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Non-financial companies listed on the Pakistan Stock Exchange, 2005 – 2023 (19 years), across 15 major sectors.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554480"/>
            <a:ext cx="3611880" cy="4754880"/>
          </a:xfrm>
          <a:prstGeom prst="roundRect">
            <a:avLst>
              <a:gd name="adj" fmla="val 2278"/>
            </a:avLst>
          </a:prstGeom>
          <a:solidFill>
            <a:srgbClr val="F4F7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4617720" y="1783080"/>
            <a:ext cx="457200" cy="457200"/>
          </a:xfrm>
          <a:prstGeom prst="ellips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9"/>
          <p:cNvSpPr/>
          <p:nvPr/>
        </p:nvSpPr>
        <p:spPr>
          <a:xfrm>
            <a:off x="461772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12080" y="18562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— 3 WORKSHEETS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17720" y="2423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2005–08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669280" y="244144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SBP reporting format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17720" y="299008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2009–13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669280" y="300837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presentation format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617720" y="35570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A8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2014–23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669280" y="3575304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format, incl. IFRS from 2018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635168" y="434097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 GROUPS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677156" y="429768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Non-Current &amp; Current Assets  ·  Shareholders' Equity  ·  Liabilities  ·  Operations (Sales/Revenue)  ·  Cash Flow  ·  Profitability, Liquidity &amp; Solvency KPIs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138160" y="1554480"/>
            <a:ext cx="3502152" cy="4754880"/>
          </a:xfrm>
          <a:prstGeom prst="roundRect">
            <a:avLst>
              <a:gd name="adj" fmla="val 2350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20"/>
          <p:cNvSpPr/>
          <p:nvPr/>
        </p:nvSpPr>
        <p:spPr>
          <a:xfrm>
            <a:off x="8412480" y="1783080"/>
            <a:ext cx="457200" cy="457200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1"/>
          <p:cNvSpPr/>
          <p:nvPr/>
        </p:nvSpPr>
        <p:spPr>
          <a:xfrm>
            <a:off x="84124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006840" y="1856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 rot="5400000">
            <a:off x="8412480" y="2441448"/>
            <a:ext cx="146304" cy="146304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4"/>
          <p:cNvSpPr/>
          <p:nvPr/>
        </p:nvSpPr>
        <p:spPr>
          <a:xfrm>
            <a:off x="8686800" y="23042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686800" y="2606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 reshaping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 rot="5400000">
            <a:off x="8412480" y="3310128"/>
            <a:ext cx="146304" cy="146304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7"/>
          <p:cNvSpPr/>
          <p:nvPr/>
        </p:nvSpPr>
        <p:spPr>
          <a:xfrm>
            <a:off x="8686800" y="3172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/ BigQuery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686800" y="3474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&amp; filtering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 rot="5400000">
            <a:off x="8412480" y="4178808"/>
            <a:ext cx="146304" cy="146304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0"/>
          <p:cNvSpPr/>
          <p:nvPr/>
        </p:nvSpPr>
        <p:spPr>
          <a:xfrm>
            <a:off x="8686800" y="40416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/ RStudio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8686800" y="4343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 rot="5400000">
            <a:off x="8412480" y="5047488"/>
            <a:ext cx="146304" cy="146304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Text 33"/>
          <p:cNvSpPr/>
          <p:nvPr/>
        </p:nvSpPr>
        <p:spPr>
          <a:xfrm>
            <a:off x="8686800" y="49103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8686800" y="5212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Steps From Messy Statements to Analysis-Ready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assessment found data split across 3 worksheets, inconsistent indicator names, a long data format, numeric prefixes on organization names, and missing values.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13232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7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13232" y="262432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Indicators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08152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inconsistent indicator names (e.g. multiple variants of Non-Current Assets) within each worksheet.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3012948"/>
            <a:ext cx="146304" cy="237744"/>
          </a:xfrm>
          <a:prstGeom prst="chevron">
            <a:avLst/>
          </a:prstGeom>
          <a:solidFill>
            <a:schemeClr val="accent6">
              <a:lumMod val="75000"/>
            </a:scheme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502152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7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02152" y="262432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Non-Common Items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308152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indicators not shared across all worksheets to keep the merged structure consistent.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3012948"/>
            <a:ext cx="146304" cy="237744"/>
          </a:xfrm>
          <a:prstGeom prst="chevron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16" name="Text 14"/>
          <p:cNvSpPr/>
          <p:nvPr/>
        </p:nvSpPr>
        <p:spPr>
          <a:xfrm>
            <a:off x="6291072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7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91072" y="262432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 to Wide Format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91072" y="308152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Pivoted the Item Name column so each financial indicator became its own column.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750808" y="3012948"/>
            <a:ext cx="146304" cy="237744"/>
          </a:xfrm>
          <a:prstGeom prst="chevron">
            <a:avLst/>
          </a:prstGeom>
          <a:solidFill>
            <a:srgbClr val="629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8915400" y="196596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9079992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7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079992" y="262432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Worksheets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79992" y="308152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the three restructured sheets into one consolidated 2005–2023 dataset.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2628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713232" y="4663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7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3232" y="518464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Column Names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" y="564184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indicators to short, underscore-formatted names; documented the mapping in a reference sheet.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172968" y="5573268"/>
            <a:ext cx="146304" cy="237744"/>
          </a:xfrm>
          <a:prstGeom prst="chevron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3337560" y="452628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502152" y="4663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C7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3502152" y="518464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Organization Names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02152" y="564184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numeric prefixes (e.g. "703-") from organization names for consistency.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61888" y="5573268"/>
            <a:ext cx="146304" cy="237744"/>
          </a:xfrm>
          <a:prstGeom prst="chevron">
            <a:avLst/>
          </a:prstGeom>
          <a:solidFill>
            <a:srgbClr val="629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6126480" y="452628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291072" y="46634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291072" y="5184648"/>
            <a:ext cx="2276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Missing Values</a:t>
            </a:r>
            <a:endParaRPr lang="en-US" sz="1300" dirty="0">
              <a:solidFill>
                <a:srgbClr val="13241A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6291072" y="5641848"/>
            <a:ext cx="227685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nulls with 0 and converted fields to Integer type for efficient analysis.</a:t>
            </a:r>
            <a:endParaRPr lang="en-US" sz="1000" dirty="0">
              <a:solidFill>
                <a:srgbClr val="5B6B60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of 14 Financial Ratios in 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172200" cy="5166360"/>
          </a:xfrm>
          <a:prstGeom prst="roundRect">
            <a:avLst>
              <a:gd name="adj" fmla="val 1593"/>
            </a:avLst>
          </a:prstGeom>
          <a:solidFill>
            <a:srgbClr val="F4F7F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5" name="Image 0" descr="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806440" cy="4983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20840" y="1371600"/>
            <a:ext cx="4937760" cy="5166360"/>
          </a:xfrm>
          <a:prstGeom prst="roundRect">
            <a:avLst>
              <a:gd name="adj" fmla="val 1667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6995160" y="1627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MATRIX SHOWS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 rot="5400000">
            <a:off x="6995160" y="2075688"/>
            <a:ext cx="128016" cy="128016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6"/>
          <p:cNvSpPr/>
          <p:nvPr/>
        </p:nvSpPr>
        <p:spPr>
          <a:xfrm>
            <a:off x="7269480" y="197510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Margin, Gross Profit Margin and Operating Margin move strongly together — consistent profitability measures.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rot="5400000">
            <a:off x="6995160" y="2834640"/>
            <a:ext cx="128016" cy="128016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8"/>
          <p:cNvSpPr/>
          <p:nvPr/>
        </p:nvSpPr>
        <p:spPr>
          <a:xfrm>
            <a:off x="7269480" y="273405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 shows moderate positive links to profitability; ROE is comparatively weak, hinting at leverage effects.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 rot="5400000">
            <a:off x="6995160" y="3593592"/>
            <a:ext cx="128016" cy="128016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0"/>
          <p:cNvSpPr/>
          <p:nvPr/>
        </p:nvSpPr>
        <p:spPr>
          <a:xfrm>
            <a:off x="7269480" y="349300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Liabilities-to-Assets is negatively correlated with profitability — higher debt, lower returns.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 rot="5400000">
            <a:off x="6995160" y="4352544"/>
            <a:ext cx="128016" cy="128016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7269480" y="42519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Ratio and Quick Ratio are highly correlated, both capturing short-term liquidity.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 rot="5400000">
            <a:off x="6995160" y="5111496"/>
            <a:ext cx="128016" cy="128016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7269480" y="50109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Receivables Turnover are largely independent of profitability, leverage and liquidity.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 rot="5400000">
            <a:off x="6995160" y="5870448"/>
            <a:ext cx="128016" cy="128016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7269480" y="576986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severe multicollinearity — the dataset is sound for financial interpretation.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C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 · 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452360" cy="5074920"/>
          </a:xfrm>
          <a:prstGeom prst="roundRect">
            <a:avLst>
              <a:gd name="adj" fmla="val 1081"/>
            </a:avLst>
          </a:prstGeom>
          <a:solidFill>
            <a:srgbClr val="F4F7F3"/>
          </a:solidFill>
          <a:ln w="190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overview_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7178040" cy="4032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390,103.22M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496312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33,041.86M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496312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06824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418,213.31M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06824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17336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11.46%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17336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29600" y="1280160"/>
            <a:ext cx="3410712" cy="5074920"/>
          </a:xfrm>
          <a:prstGeom prst="roundRect">
            <a:avLst>
              <a:gd name="adj" fmla="val 2413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50392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5400000">
            <a:off x="8503920" y="1947672"/>
            <a:ext cx="118872" cy="118872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8759952" y="18288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of 390,103.22M against total assets of 418,213.31M shows a healthy, efficient asset base.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 rot="5400000">
            <a:off x="8503920" y="2907792"/>
            <a:ext cx="118872" cy="118872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8759952" y="27889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Coke &amp; Refined Petroleum Products clearly leads total sales — the backbone of the portfolio.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 rot="5400000">
            <a:off x="8503920" y="3867912"/>
            <a:ext cx="118872" cy="118872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8759952" y="3749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profitability rise sharply from 2020 onward — post-COVID recovery plus currency effects.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rot="5400000">
            <a:off x="8503920" y="4828032"/>
            <a:ext cx="118872" cy="118872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8759952" y="47091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ROE of 11.46% overall, though it varies widely by sector.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C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 · 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Sector — Coke &amp; Refined Petroleum Products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452360" cy="5074920"/>
          </a:xfrm>
          <a:prstGeom prst="roundRect">
            <a:avLst>
              <a:gd name="adj" fmla="val 1081"/>
            </a:avLst>
          </a:prstGeom>
          <a:solidFill>
            <a:srgbClr val="F4F7F3"/>
          </a:solidFill>
          <a:ln w="190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sector_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7178040" cy="4032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79,802.26M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496312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4,091.72M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496312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06824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20.73%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06824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17336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33.63%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17336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INV. TURNOVER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29600" y="1280160"/>
            <a:ext cx="3410712" cy="5074920"/>
          </a:xfrm>
          <a:prstGeom prst="roundRect">
            <a:avLst>
              <a:gd name="adj" fmla="val 2413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50392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5400000">
            <a:off x="8503920" y="1947672"/>
            <a:ext cx="118872" cy="118872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8759952" y="18288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ROE of 20.73% is well above the 11.46% portfolio average.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 rot="5400000">
            <a:off x="8503920" y="2907792"/>
            <a:ext cx="118872" cy="118872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8759952" y="27889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State Oil (PSO) leads the sector, ahead of Shell Pakistan, Attock Petroleum, National Refinery and Attock Refinery.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 rot="5400000">
            <a:off x="8503920" y="3867912"/>
            <a:ext cx="118872" cy="118872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8759952" y="3749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 steeply between 2021–2023, pointing to sector-wide expansion and favorable pricing.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rot="5400000">
            <a:off x="8503920" y="4828032"/>
            <a:ext cx="118872" cy="118872"/>
          </a:xfrm>
          <a:prstGeom prst="triangle">
            <a:avLst/>
          </a:prstGeom>
          <a:solidFill>
            <a:srgbClr val="3A8322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8759952" y="47091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dividends rise markedly from 2021 onward, mirroring the portfolio-wide profitability trend.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9C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 · 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Company — Pakistan State Oil (PSO)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7452360" cy="5074920"/>
          </a:xfrm>
          <a:prstGeom prst="roundRect">
            <a:avLst>
              <a:gd name="adj" fmla="val 1081"/>
            </a:avLst>
          </a:prstGeom>
          <a:solidFill>
            <a:srgbClr val="F4F7F3"/>
          </a:solidFill>
          <a:ln w="190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company_das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17320"/>
            <a:ext cx="7178040" cy="40325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19,927.25M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496312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453.26M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496312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306824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28.22%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06824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117336" y="55321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12.72%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117336" y="58978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INV. TURNOVER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229600" y="1280160"/>
            <a:ext cx="3410712" cy="5074920"/>
          </a:xfrm>
          <a:prstGeom prst="roundRect">
            <a:avLst>
              <a:gd name="adj" fmla="val 2413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2"/>
          <p:cNvSpPr/>
          <p:nvPr/>
        </p:nvSpPr>
        <p:spPr>
          <a:xfrm>
            <a:off x="8503920" y="1508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 rot="5400000">
            <a:off x="8503920" y="1947672"/>
            <a:ext cx="118872" cy="118872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4"/>
          <p:cNvSpPr/>
          <p:nvPr/>
        </p:nvSpPr>
        <p:spPr>
          <a:xfrm>
            <a:off x="8759952" y="18288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PSO's sales of 19,927.25M make up roughly 25% of the entire sector's revenue.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 rot="5400000">
            <a:off x="8503920" y="2907792"/>
            <a:ext cx="118872" cy="118872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6"/>
          <p:cNvSpPr/>
          <p:nvPr/>
        </p:nvSpPr>
        <p:spPr>
          <a:xfrm>
            <a:off x="8759952" y="27889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 of 28.22% beats both the sector (20.73%) and portfolio (11.46%) averages.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 rot="5400000">
            <a:off x="8503920" y="3867912"/>
            <a:ext cx="118872" cy="118872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8"/>
          <p:cNvSpPr/>
          <p:nvPr/>
        </p:nvSpPr>
        <p:spPr>
          <a:xfrm>
            <a:off x="8759952" y="37490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assets rise sharply in 2022–2023, signalling stronger liquidity.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 rot="5400000">
            <a:off x="8503920" y="4828032"/>
            <a:ext cx="118872" cy="118872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20"/>
          <p:cNvSpPr/>
          <p:nvPr/>
        </p:nvSpPr>
        <p:spPr>
          <a:xfrm>
            <a:off x="8759952" y="47091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dipped around 2009 (global financial crisis) but recovered steadily since.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4F7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15 Sectors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A8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11.46%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ROE across the full non-financial portfolio, on total sales of 390,103.22M and assets of 418,213.31M.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23944" y="2999232"/>
            <a:ext cx="219456" cy="365760"/>
          </a:xfrm>
          <a:prstGeom prst="chevron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617720" y="16916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C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9659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Coke &amp; Refined Petroleum Products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9C7F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20.73%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ROE, generating 79,802.26M in sales — the clear backbone of overall performance.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64424" y="2999232"/>
            <a:ext cx="219456" cy="365760"/>
          </a:xfrm>
          <a:prstGeom prst="chevron">
            <a:avLst/>
          </a:prstGeom>
          <a:solidFill>
            <a:srgbClr val="62983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8229600" y="1508760"/>
            <a:ext cx="3520440" cy="3246120"/>
          </a:xfrm>
          <a:prstGeom prst="roundRect">
            <a:avLst>
              <a:gd name="adj" fmla="val 2535"/>
            </a:avLst>
          </a:prstGeom>
          <a:solidFill>
            <a:srgbClr val="F4F7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458200" y="16916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5A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COMPANY</a:t>
            </a:r>
            <a:endParaRPr lang="en-US" sz="1100" b="1" dirty="0">
              <a:solidFill>
                <a:srgbClr val="75A763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58200" y="19659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Pakistan State Oil (PSO)</a:t>
            </a:r>
            <a:endParaRPr lang="en-US" sz="1500" dirty="0">
              <a:solidFill>
                <a:srgbClr val="13241A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58200" y="2606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A83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28.22%</a:t>
            </a:r>
            <a:endParaRPr lang="en-US" sz="4200" dirty="0">
              <a:solidFill>
                <a:srgbClr val="3A8322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58200" y="342900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6A79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ROE — about 25% of sector revenue, with a sharp liquidity gain in 2022–2023.</a:t>
            </a:r>
            <a:endParaRPr lang="en-US" sz="1100" dirty="0">
              <a:solidFill>
                <a:srgbClr val="6A796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22960" y="51389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B3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TAKEAWAY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measures move together, leverage drags on profitability, and liquidity ratios are tightly linked — with no severe multicollinearity across the 14 ratios tested, confirming the dataset's reliability for financial interpretation.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DEVELOPMENT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Project Supports the SDGs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</a:rPr>
              <a:t>SDG 8</a:t>
            </a:r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 Work &amp;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Economic Growth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the profitability, liquidity and solvency of non-financial companies across 15 major sectors — a direct read on corporate growth and economic productivity.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4617720" y="1874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617720" y="18745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</a:rPr>
              <a:t>SDG 9</a:t>
            </a:r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Industry, Innovation</a:t>
            </a:r>
            <a:endParaRPr lang="en-US" sz="15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Infrastructure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39776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15 non-financial sectors including Textile, Cement, Food and Fuel &amp; Energy — core pillars of industrial activity and infrastructure.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8412480" y="187452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0B3B1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8412480" y="18745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</a:rPr>
              <a:t>SDG 17</a:t>
            </a:r>
          </a:p>
        </p:txBody>
      </p:sp>
      <p:sp>
        <p:nvSpPr>
          <p:cNvPr id="17" name="Text 15"/>
          <p:cNvSpPr/>
          <p:nvPr/>
        </p:nvSpPr>
        <p:spPr>
          <a:xfrm>
            <a:off x="8412480" y="310896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02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Partnerships</a:t>
            </a:r>
            <a:endParaRPr lang="en-US" sz="1550" dirty="0">
              <a:solidFill>
                <a:srgbClr val="202120"/>
              </a:solidFill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202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Goals</a:t>
            </a:r>
            <a:endParaRPr lang="en-US" sz="1550" dirty="0">
              <a:solidFill>
                <a:srgbClr val="20212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412480" y="397764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202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scattered, inconsistent SBP data into a clean, structured, analysis-ready dataset — the reliable data infrastructure SDG 17 calls for.</a:t>
            </a:r>
            <a:endParaRPr lang="en-US" sz="1150" dirty="0">
              <a:solidFill>
                <a:srgbClr val="20212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>
            <a:extLst>
              <a:ext uri="{FF2B5EF4-FFF2-40B4-BE49-F238E27FC236}">
                <a16:creationId xmlns:a16="http://schemas.microsoft.com/office/drawing/2014/main" id="{4A850521-EB36-4976-1896-94E8FE197F1A}"/>
              </a:ext>
            </a:extLst>
          </p:cNvPr>
          <p:cNvGrpSpPr/>
          <p:nvPr/>
        </p:nvGrpSpPr>
        <p:grpSpPr>
          <a:xfrm>
            <a:off x="8277186" y="1623060"/>
            <a:ext cx="3611880" cy="4160520"/>
            <a:chOff x="8138160" y="1600200"/>
            <a:chExt cx="3611880" cy="4160520"/>
          </a:xfrm>
          <a:solidFill>
            <a:srgbClr val="E8F1E9"/>
          </a:solidFill>
        </p:grpSpPr>
        <p:sp>
          <p:nvSpPr>
            <p:cNvPr id="18" name="Shape 16"/>
            <p:cNvSpPr/>
            <p:nvPr/>
          </p:nvSpPr>
          <p:spPr>
            <a:xfrm>
              <a:off x="8138160" y="1600200"/>
              <a:ext cx="3611880" cy="4160520"/>
            </a:xfrm>
            <a:prstGeom prst="roundRect">
              <a:avLst>
                <a:gd name="adj" fmla="val 2278"/>
              </a:avLst>
            </a:prstGeom>
            <a:grpFill/>
            <a:ln/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412480" y="2926080"/>
              <a:ext cx="3063240" cy="365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324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Abuzar Paracha</a:t>
              </a:r>
              <a:endParaRPr lang="en-US" sz="16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412480" y="3273552"/>
              <a:ext cx="3063240" cy="27432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kern="0" spc="50" dirty="0">
                  <a:solidFill>
                    <a:srgbClr val="5B6B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SP25-BDA-002</a:t>
              </a:r>
              <a:endParaRPr lang="en-US" sz="10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8412480" y="3639312"/>
              <a:ext cx="3063240" cy="41148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200" dirty="0"/>
                <a:t>Reporting &amp; PPT creation 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8412480" y="4114800"/>
              <a:ext cx="3063240" cy="1508760"/>
            </a:xfrm>
            <a:prstGeom prst="rect">
              <a:avLst/>
            </a:prstGeom>
            <a:grpFill/>
            <a:ln/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100" dirty="0">
                  <a:solidFill>
                    <a:srgbClr val="1324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Developed Report and created PPT for presentation. </a:t>
              </a:r>
              <a:endParaRPr lang="en-US" sz="110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8385888" y="1856232"/>
              <a:ext cx="914400" cy="914400"/>
            </a:xfrm>
            <a:prstGeom prst="ellipse">
              <a:avLst/>
            </a:prstGeom>
            <a:solidFill>
              <a:srgbClr val="0B3B1E"/>
            </a:solidFill>
            <a:ln/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385888" y="1874520"/>
              <a:ext cx="9144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C7A43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AP</a:t>
              </a:r>
              <a:endParaRPr lang="en-US" sz="2000" dirty="0"/>
            </a:p>
          </p:txBody>
        </p:sp>
      </p:grpSp>
      <p:sp>
        <p:nvSpPr>
          <p:cNvPr id="2" name="Text 0"/>
          <p:cNvSpPr/>
          <p:nvPr/>
        </p:nvSpPr>
        <p:spPr>
          <a:xfrm>
            <a:off x="548640" y="411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Behind the Analysis</a:t>
            </a:r>
            <a:endParaRPr lang="en-US" sz="26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9C8E363-9632-3382-E643-DA6C8C090C74}"/>
              </a:ext>
            </a:extLst>
          </p:cNvPr>
          <p:cNvGrpSpPr/>
          <p:nvPr/>
        </p:nvGrpSpPr>
        <p:grpSpPr>
          <a:xfrm>
            <a:off x="525780" y="1604772"/>
            <a:ext cx="3611880" cy="4160520"/>
            <a:chOff x="4343400" y="1600200"/>
            <a:chExt cx="3611880" cy="4160520"/>
          </a:xfrm>
        </p:grpSpPr>
        <p:sp>
          <p:nvSpPr>
            <p:cNvPr id="11" name="Shape 9"/>
            <p:cNvSpPr/>
            <p:nvPr/>
          </p:nvSpPr>
          <p:spPr>
            <a:xfrm>
              <a:off x="4343400" y="1600200"/>
              <a:ext cx="3611880" cy="4160520"/>
            </a:xfrm>
            <a:prstGeom prst="roundRect">
              <a:avLst>
                <a:gd name="adj" fmla="val 2278"/>
              </a:avLst>
            </a:prstGeom>
            <a:solidFill>
              <a:srgbClr val="E8F1E9"/>
            </a:solidFill>
            <a:ln>
              <a:solidFill>
                <a:srgbClr val="E8F1E9"/>
              </a:solidFill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Shape 10"/>
            <p:cNvSpPr/>
            <p:nvPr/>
          </p:nvSpPr>
          <p:spPr>
            <a:xfrm>
              <a:off x="4617720" y="1874520"/>
              <a:ext cx="914400" cy="914400"/>
            </a:xfrm>
            <a:prstGeom prst="ellipse">
              <a:avLst/>
            </a:prstGeom>
            <a:solidFill>
              <a:srgbClr val="0B3B1E"/>
            </a:solidFill>
            <a:ln>
              <a:solidFill>
                <a:srgbClr val="E8F1E9"/>
              </a:solidFill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Text 11"/>
            <p:cNvSpPr/>
            <p:nvPr/>
          </p:nvSpPr>
          <p:spPr>
            <a:xfrm>
              <a:off x="4617720" y="1874520"/>
              <a:ext cx="914400" cy="914400"/>
            </a:xfrm>
            <a:prstGeom prst="rect">
              <a:avLst/>
            </a:prstGeom>
            <a:noFill/>
            <a:ln>
              <a:solidFill>
                <a:srgbClr val="E8F1E9"/>
              </a:solidFill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C7A430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HJ</a:t>
              </a:r>
              <a:endParaRPr lang="en-US" sz="2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4617720" y="2926080"/>
              <a:ext cx="3063240" cy="365760"/>
            </a:xfrm>
            <a:prstGeom prst="rect">
              <a:avLst/>
            </a:prstGeom>
            <a:noFill/>
            <a:ln>
              <a:solidFill>
                <a:srgbClr val="E8F1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3241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Haris Jamil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4617720" y="3273552"/>
              <a:ext cx="3063240" cy="274320"/>
            </a:xfrm>
            <a:prstGeom prst="rect">
              <a:avLst/>
            </a:prstGeom>
            <a:noFill/>
            <a:ln>
              <a:solidFill>
                <a:srgbClr val="E8F1E9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kern="0" spc="50" dirty="0">
                  <a:solidFill>
                    <a:srgbClr val="5B6B6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SP25-BDA-009</a:t>
              </a:r>
              <a:endParaRPr lang="en-US" sz="10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617720" y="3639312"/>
              <a:ext cx="3063240" cy="411480"/>
            </a:xfrm>
            <a:prstGeom prst="rect">
              <a:avLst/>
            </a:prstGeom>
            <a:noFill/>
            <a:ln>
              <a:solidFill>
                <a:srgbClr val="E8F1E9"/>
              </a:solidFill>
            </a:ln>
          </p:spPr>
          <p:txBody>
            <a:bodyPr wrap="square" rtlCol="0" anchor="ctr"/>
            <a:lstStyle/>
            <a:p>
              <a:pPr marL="0" indent="0">
                <a:lnSpc>
                  <a:spcPts val="1400"/>
                </a:lnSpc>
                <a:buNone/>
              </a:pPr>
              <a:r>
                <a:rPr lang="en-US" sz="1200" b="1" dirty="0">
                  <a:solidFill>
                    <a:srgbClr val="2021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Cleaning &amp; Extraction</a:t>
              </a:r>
              <a:endParaRPr lang="en-US" sz="1200" dirty="0">
                <a:solidFill>
                  <a:srgbClr val="202120"/>
                </a:solidFill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4617720" y="4114800"/>
              <a:ext cx="3063240" cy="1508760"/>
            </a:xfrm>
            <a:prstGeom prst="rect">
              <a:avLst/>
            </a:prstGeom>
            <a:noFill/>
            <a:ln>
              <a:solidFill>
                <a:srgbClr val="E8F1E9"/>
              </a:solidFill>
            </a:ln>
          </p:spPr>
          <p:txBody>
            <a:bodyPr wrap="square" rtlCol="0" anchor="ctr"/>
            <a:lstStyle/>
            <a:p>
              <a:pPr marL="0" indent="0">
                <a:lnSpc>
                  <a:spcPts val="1500"/>
                </a:lnSpc>
                <a:buNone/>
              </a:pPr>
              <a:r>
                <a:rPr lang="en-US" sz="1100" dirty="0">
                  <a:solidFill>
                    <a:srgbClr val="1324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Cleaned data in Excel and extracted required data suing Big Query. </a:t>
              </a:r>
              <a:endParaRPr lang="en-US" sz="1100" dirty="0"/>
            </a:p>
          </p:txBody>
        </p:sp>
      </p:grpSp>
      <p:sp>
        <p:nvSpPr>
          <p:cNvPr id="25" name="Text 2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 Dr. Jamil Anwar  ·  COMSATS University Islamabad, Abbottabad Campus  ·  Department of Management Sciences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411980" y="1623060"/>
            <a:ext cx="3611880" cy="4160520"/>
          </a:xfrm>
          <a:prstGeom prst="roundRect">
            <a:avLst>
              <a:gd name="adj" fmla="val 2278"/>
            </a:avLst>
          </a:prstGeom>
          <a:solidFill>
            <a:srgbClr val="FBF4DE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5" name="Shape 3"/>
          <p:cNvSpPr/>
          <p:nvPr/>
        </p:nvSpPr>
        <p:spPr>
          <a:xfrm>
            <a:off x="4686300" y="1897380"/>
            <a:ext cx="914400" cy="914400"/>
          </a:xfrm>
          <a:prstGeom prst="ellipse">
            <a:avLst/>
          </a:prstGeom>
          <a:solidFill>
            <a:srgbClr val="0B3B1E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7" name="Text 5"/>
          <p:cNvSpPr/>
          <p:nvPr/>
        </p:nvSpPr>
        <p:spPr>
          <a:xfrm>
            <a:off x="4686300" y="29489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Muhammad Sulaiman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86300" y="32964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SP25-BDA-004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6300" y="366217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9C7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&amp; Visualization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86300" y="4137660"/>
            <a:ext cx="30632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3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Bulit dashboard in tableau and performed statistical analysis in R.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86300" y="187909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A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788920" y="3017520"/>
            <a:ext cx="640080" cy="0"/>
          </a:xfrm>
          <a:prstGeom prst="line">
            <a:avLst/>
          </a:prstGeom>
          <a:noFill/>
          <a:ln w="444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2734056" y="2962656"/>
            <a:ext cx="109728" cy="109728"/>
          </a:xfrm>
          <a:prstGeom prst="ellipse">
            <a:avLst/>
          </a:prstGeom>
          <a:solidFill>
            <a:srgbClr val="C7A430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1345910" y="1188720"/>
            <a:ext cx="3383280" cy="3383280"/>
          </a:xfrm>
          <a:prstGeom prst="roundRect">
            <a:avLst>
              <a:gd name="adj" fmla="val 50000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 dirty="0"/>
          </a:p>
        </p:txBody>
      </p:sp>
      <p:pic>
        <p:nvPicPr>
          <p:cNvPr id="12" name="Image 0" descr="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420" y="1783080"/>
            <a:ext cx="2194560" cy="21945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845627" y="17830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4855464" y="3456059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74236" y="502920"/>
            <a:ext cx="3840480" cy="5852160"/>
          </a:xfrm>
          <a:prstGeom prst="roundRect">
            <a:avLst>
              <a:gd name="adj" fmla="val 3810"/>
            </a:avLst>
          </a:prstGeom>
          <a:solidFill>
            <a:srgbClr val="E8F1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4174236" y="502920"/>
            <a:ext cx="3840480" cy="5852160"/>
          </a:xfrm>
          <a:prstGeom prst="roundRect">
            <a:avLst>
              <a:gd name="adj" fmla="val 3810"/>
            </a:avLst>
          </a:prstGeom>
          <a:ln w="19050">
            <a:solidFill>
              <a:srgbClr val="C7A43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4" name="Image 0" descr="logo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118872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65676" y="3566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B3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 rot="3300000">
            <a:off x="5975604" y="4279392"/>
            <a:ext cx="237744" cy="237744"/>
          </a:xfrm>
          <a:prstGeom prst="triangle">
            <a:avLst/>
          </a:prstGeom>
          <a:solidFill>
            <a:srgbClr val="C7A43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4"/>
          <p:cNvSpPr/>
          <p:nvPr/>
        </p:nvSpPr>
        <p:spPr>
          <a:xfrm>
            <a:off x="4265676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kern="0" spc="250" dirty="0">
                <a:solidFill>
                  <a:srgbClr val="3A83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265676" y="5074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Sulaiman  ·  Haris Jamil  ·  Abuzar Paracha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1239</Words>
  <Application>Microsoft Office PowerPoint</Application>
  <PresentationFormat>Widescreen</PresentationFormat>
  <Paragraphs>208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SP25-BDA-009(HARIS JAMIL)</cp:lastModifiedBy>
  <cp:revision>2</cp:revision>
  <dcterms:created xsi:type="dcterms:W3CDTF">2026-07-12T10:20:58Z</dcterms:created>
  <dcterms:modified xsi:type="dcterms:W3CDTF">2026-07-12T11:19:15Z</dcterms:modified>
</cp:coreProperties>
</file>